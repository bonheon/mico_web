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82D4E"/>
                </a:solidFill>
                <a:latin typeface="Aptos"/>
              </a:rPr>
              <a:t>Algorithm_new 전체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5C6775"/>
                </a:solidFill>
                <a:latin typeface="Aptos"/>
              </a:rPr>
              <a:t>CMP 공정 데이터가 병합 → 학습 → 시뮬레이션으로 흐르는 3단계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514600"/>
            <a:ext cx="1874519" cy="960120"/>
          </a:xfrm>
          <a:prstGeom prst="roundRect">
            <a:avLst/>
          </a:prstGeom>
          <a:solidFill>
            <a:srgbClr val="182D4E"/>
          </a:solidFill>
          <a:ln>
            <a:solidFill>
              <a:srgbClr val="18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Django Set-up DB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공정·Recipe·Target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920240"/>
            <a:ext cx="1965960" cy="960120"/>
          </a:xfrm>
          <a:prstGeom prst="roundRect">
            <a:avLst/>
          </a:prstGeom>
          <a:solidFill>
            <a:srgbClr val="3471BD"/>
          </a:solidFill>
          <a:ln>
            <a:solidFill>
              <a:srgbClr val="347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1. Merge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Aptos"/>
              </a:rPr>
              <a:t>실측 + HUB 데이터 병합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3749039"/>
            <a:ext cx="1965960" cy="777240"/>
          </a:xfrm>
          <a:prstGeom prst="roundRect">
            <a:avLst/>
          </a:prstGeom>
          <a:solidFill>
            <a:srgbClr val="22978B"/>
          </a:solidFill>
          <a:ln>
            <a:solidFill>
              <a:srgbClr val="22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PRE_THK_INFO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ptos"/>
              </a:rPr>
              <a:t>사전공정 계측값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920240"/>
            <a:ext cx="1965960" cy="960120"/>
          </a:xfrm>
          <a:prstGeom prst="roundRect">
            <a:avLst/>
          </a:prstGeom>
          <a:solidFill>
            <a:srgbClr val="EA8B41"/>
          </a:solidFill>
          <a:ln>
            <a:solidFill>
              <a:srgbClr val="EA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2. Module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Aptos"/>
              </a:rPr>
              <a:t>학습값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3749039"/>
            <a:ext cx="1965960" cy="777240"/>
          </a:xfrm>
          <a:prstGeom prst="roundRect">
            <a:avLst/>
          </a:prstGeom>
          <a:solidFill>
            <a:srgbClr val="7B5BAF"/>
          </a:solidFill>
          <a:ln>
            <a:solidFill>
              <a:srgbClr val="7B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Learning DB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ptos"/>
              </a:rPr>
              <a:t>Pre-VM · RR · Offset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920240"/>
            <a:ext cx="2057400" cy="960120"/>
          </a:xfrm>
          <a:prstGeom prst="roundRect">
            <a:avLst/>
          </a:prstGeom>
          <a:solidFill>
            <a:srgbClr val="22978B"/>
          </a:solidFill>
          <a:ln>
            <a:solidFill>
              <a:srgbClr val="22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3. Simulation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Aptos"/>
              </a:rPr>
              <a:t>예측값 계산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749039"/>
            <a:ext cx="2057400" cy="777240"/>
          </a:xfrm>
          <a:prstGeom prst="roundRect">
            <a:avLst/>
          </a:prstGeom>
          <a:solidFill>
            <a:srgbClr val="182D4E"/>
          </a:solidFill>
          <a:ln>
            <a:solidFill>
              <a:srgbClr val="18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CSV Output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ptos"/>
              </a:rPr>
              <a:t>13P · ED1 · ED2 · Z5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468880" y="2404872"/>
            <a:ext cx="685800" cy="594360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468880" y="2404872"/>
            <a:ext cx="3429000" cy="594360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20640" y="2404872"/>
            <a:ext cx="777240" cy="0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120640" y="2697480"/>
            <a:ext cx="3520440" cy="1435607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63840" y="2404872"/>
            <a:ext cx="777240" cy="0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63840" y="4133087"/>
            <a:ext cx="777240" cy="0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74352" y="2880360"/>
            <a:ext cx="0" cy="868679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5257800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82D4E"/>
                </a:solidFill>
                <a:latin typeface="Aptos"/>
              </a:rPr>
              <a:t>공정별 실행 파일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59552"/>
            <a:ext cx="28346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5C6775"/>
                </a:solidFill>
                <a:latin typeface="Aptos"/>
              </a:rPr>
              <a:t>merge/*/Merge_Hub.py
module/*/Module.py
simulation/*/Simulation_Hub.py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5440680"/>
            <a:ext cx="7315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5C6775"/>
                </a:solidFill>
                <a:latin typeface="Aptos"/>
              </a:rPr>
              <a:t>실제 공통 로직은 Common/에 집중되어 있고, 각 Hub 파일은 Family·Oper_Desc·보정 옵션을 주입하는 얇은 실행 진입점입니다.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82D4E"/>
                </a:solidFill>
                <a:latin typeface="Aptos"/>
              </a:rPr>
              <a:t>학습 단계: Module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5C6775"/>
                </a:solidFill>
                <a:latin typeface="Aptos"/>
              </a:rPr>
              <a:t>Merge 데이터에서 세 종류의 학습값을 만들고 MongoDB에 저장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514600"/>
            <a:ext cx="1554480" cy="868680"/>
          </a:xfrm>
          <a:prstGeom prst="roundRect">
            <a:avLst/>
          </a:prstGeom>
          <a:solidFill>
            <a:srgbClr val="182D4E"/>
          </a:solidFill>
          <a:ln>
            <a:solidFill>
              <a:srgbClr val="18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Merge DF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Aptos"/>
              </a:rPr>
              <a:t>wafer 실측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011680"/>
            <a:ext cx="2148840" cy="1170432"/>
          </a:xfrm>
          <a:prstGeom prst="roundRect">
            <a:avLst/>
          </a:prstGeom>
          <a:solidFill>
            <a:srgbClr val="3471BD"/>
          </a:solidFill>
          <a:ln>
            <a:solidFill>
              <a:srgbClr val="347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Pre-Thickness VM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사전 두께 편차
이동평균·회귀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069080"/>
            <a:ext cx="2148840" cy="594360"/>
          </a:xfrm>
          <a:prstGeom prst="roundRect">
            <a:avLst/>
          </a:prstGeom>
          <a:solidFill>
            <a:srgbClr val="7B5BAF"/>
          </a:solidFill>
          <a:ln>
            <a:solidFill>
              <a:srgbClr val="7B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MongoDB 저장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13048" y="3182112"/>
            <a:ext cx="0" cy="886968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148840" y="2596896"/>
            <a:ext cx="594360" cy="347472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32120" y="2011680"/>
            <a:ext cx="2148840" cy="1170432"/>
          </a:xfrm>
          <a:prstGeom prst="roundRect">
            <a:avLst/>
          </a:prstGeom>
          <a:solidFill>
            <a:srgbClr val="EA8B41"/>
          </a:solidFill>
          <a:ln>
            <a:solidFill>
              <a:srgbClr val="EA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Removal Rate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소모품 마모량 ↔ RR
선형회귀 b1/b0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4069080"/>
            <a:ext cx="2148840" cy="594360"/>
          </a:xfrm>
          <a:prstGeom prst="roundRect">
            <a:avLst/>
          </a:prstGeom>
          <a:solidFill>
            <a:srgbClr val="7B5BAF"/>
          </a:solidFill>
          <a:ln>
            <a:solidFill>
              <a:srgbClr val="7B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MongoDB 저장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01968" y="3182112"/>
            <a:ext cx="0" cy="886968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92040" y="2596896"/>
            <a:ext cx="640080" cy="0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21040" y="2011680"/>
            <a:ext cx="2148840" cy="1170432"/>
          </a:xfrm>
          <a:prstGeom prst="roundRect">
            <a:avLst/>
          </a:prstGeom>
          <a:solidFill>
            <a:srgbClr val="22978B"/>
          </a:solidFill>
          <a:ln>
            <a:solidFill>
              <a:srgbClr val="22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Offset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Idle·LC 상태의
시간 보정값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069080"/>
            <a:ext cx="2148840" cy="594360"/>
          </a:xfrm>
          <a:prstGeom prst="roundRect">
            <a:avLst/>
          </a:prstGeom>
          <a:solidFill>
            <a:srgbClr val="7B5BAF"/>
          </a:solidFill>
          <a:ln>
            <a:solidFill>
              <a:srgbClr val="7B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MongoDB 저장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90888" y="3182112"/>
            <a:ext cx="0" cy="886968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60" y="2596896"/>
            <a:ext cx="640080" cy="0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516636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2D4E"/>
                </a:solidFill>
                <a:latin typeface="Aptos"/>
              </a:rPr>
              <a:t>핵심 처리 규칙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789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5C6775"/>
                </a:solidFill>
                <a:latin typeface="Aptos"/>
              </a:rPr>
              <a:t>• 소모품 값 급감 시점을 교체 시점으로 보고 pad/head/disk cycle 분리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24728"/>
            <a:ext cx="10789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5C6775"/>
                </a:solidFill>
                <a:latin typeface="Aptos"/>
              </a:rPr>
              <a:t>• RR은 전체·최근 가중·현재 cycle·특정 구간(IF) 회귀계수를 각각 생성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17336"/>
            <a:ext cx="10789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5C6775"/>
                </a:solidFill>
                <a:latin typeface="Aptos"/>
              </a:rPr>
              <a:t>• Offset은 실제 RR과 예측 RR의 차이를 Idle/LC 상태별로 평균화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82D4E"/>
                </a:solidFill>
                <a:latin typeface="Aptos"/>
              </a:rPr>
              <a:t>시뮬레이션 단계: 시간 기준 결합과 Zone별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5C6775"/>
                </a:solidFill>
                <a:latin typeface="Aptos"/>
              </a:rPr>
              <a:t>실측 wafer에 “그 시점까지의 최신 학습값”을 붙여 예측 결과를 산출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91640" cy="713232"/>
          </a:xfrm>
          <a:prstGeom prst="roundRect">
            <a:avLst/>
          </a:prstGeom>
          <a:solidFill>
            <a:srgbClr val="182D4E"/>
          </a:solidFill>
          <a:ln>
            <a:solidFill>
              <a:srgbClr val="18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실측 Merge 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43200"/>
            <a:ext cx="1691640" cy="713232"/>
          </a:xfrm>
          <a:prstGeom prst="roundRect">
            <a:avLst/>
          </a:prstGeom>
          <a:solidFill>
            <a:srgbClr val="3471BD"/>
          </a:solidFill>
          <a:ln>
            <a:solidFill>
              <a:srgbClr val="347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Pre-VM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1691640" cy="713232"/>
          </a:xfrm>
          <a:prstGeom prst="roundRect">
            <a:avLst/>
          </a:prstGeom>
          <a:solidFill>
            <a:srgbClr val="EA8B41"/>
          </a:solidFill>
          <a:ln>
            <a:solidFill>
              <a:srgbClr val="EA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Removal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572000"/>
            <a:ext cx="1691640" cy="713232"/>
          </a:xfrm>
          <a:prstGeom prst="roundRect">
            <a:avLst/>
          </a:prstGeom>
          <a:solidFill>
            <a:srgbClr val="22978B"/>
          </a:solidFill>
          <a:ln>
            <a:solidFill>
              <a:srgbClr val="22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Offset / Ref 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788920"/>
            <a:ext cx="2148840" cy="1143000"/>
          </a:xfrm>
          <a:prstGeom prst="roundRect">
            <a:avLst/>
          </a:prstGeom>
          <a:solidFill>
            <a:srgbClr val="7B5BAF"/>
          </a:solidFill>
          <a:ln>
            <a:solidFill>
              <a:srgbClr val="7B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simulate()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Aptos"/>
              </a:rPr>
              <a:t>merge_asof로 시점 결합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185416"/>
            <a:ext cx="868680" cy="1161288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94560" y="3099816"/>
            <a:ext cx="868680" cy="246888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194560" y="3346704"/>
            <a:ext cx="868680" cy="667511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94560" y="3346704"/>
            <a:ext cx="868680" cy="1581912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0" y="2011680"/>
            <a:ext cx="2057400" cy="822960"/>
          </a:xfrm>
          <a:prstGeom prst="roundRect">
            <a:avLst/>
          </a:prstGeom>
          <a:solidFill>
            <a:srgbClr val="3471BD"/>
          </a:solidFill>
          <a:ln>
            <a:solidFill>
              <a:srgbClr val="347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Pre_Thk 산식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이동평균 + raw/reg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246120"/>
            <a:ext cx="2057400" cy="822960"/>
          </a:xfrm>
          <a:prstGeom prst="roundRect">
            <a:avLst/>
          </a:prstGeom>
          <a:solidFill>
            <a:srgbClr val="EA8B41"/>
          </a:solidFill>
          <a:ln>
            <a:solidFill>
              <a:srgbClr val="EA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RR / Offset 반영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연마 시간 보정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4480560"/>
            <a:ext cx="2057400" cy="822960"/>
          </a:xfrm>
          <a:prstGeom prst="roundRect">
            <a:avLst/>
          </a:prstGeom>
          <a:solidFill>
            <a:srgbClr val="22978B"/>
          </a:solidFill>
          <a:ln>
            <a:solidFill>
              <a:srgbClr val="22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최종 예측값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두께·시간·편차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212080" y="2423160"/>
            <a:ext cx="731520" cy="923544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12080" y="3346704"/>
            <a:ext cx="731520" cy="310896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12080" y="3346704"/>
            <a:ext cx="731520" cy="1545336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32520" y="2788920"/>
            <a:ext cx="1508760" cy="1143000"/>
          </a:xfrm>
          <a:prstGeom prst="roundRect">
            <a:avLst/>
          </a:prstGeom>
          <a:solidFill>
            <a:srgbClr val="182D4E"/>
          </a:solidFill>
          <a:ln>
            <a:solidFill>
              <a:srgbClr val="18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Zone 분류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TIME / PRESSURE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001000" y="3346704"/>
            <a:ext cx="731520" cy="1545336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652760" y="1417320"/>
            <a:ext cx="1097280" cy="566928"/>
          </a:xfrm>
          <a:prstGeom prst="roundRect">
            <a:avLst/>
          </a:prstGeom>
          <a:solidFill>
            <a:srgbClr val="3471BD"/>
          </a:solidFill>
          <a:ln>
            <a:solidFill>
              <a:srgbClr val="347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Simul_13P.csv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0241280" y="1700784"/>
            <a:ext cx="411480" cy="1645920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652760" y="2514600"/>
            <a:ext cx="1097280" cy="566928"/>
          </a:xfrm>
          <a:prstGeom prst="roundRect">
            <a:avLst/>
          </a:prstGeom>
          <a:solidFill>
            <a:srgbClr val="EA8B41"/>
          </a:solidFill>
          <a:ln>
            <a:solidFill>
              <a:srgbClr val="EA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Simul_ED1.csv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241280" y="2798064"/>
            <a:ext cx="411480" cy="548640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652760" y="3611880"/>
            <a:ext cx="1097280" cy="566928"/>
          </a:xfrm>
          <a:prstGeom prst="roundRect">
            <a:avLst/>
          </a:prstGeom>
          <a:solidFill>
            <a:srgbClr val="22978B"/>
          </a:solidFill>
          <a:ln>
            <a:solidFill>
              <a:srgbClr val="22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Simul_ED2.csv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241280" y="3346704"/>
            <a:ext cx="411480" cy="548640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652760" y="4709159"/>
            <a:ext cx="1097280" cy="566928"/>
          </a:xfrm>
          <a:prstGeom prst="roundRect">
            <a:avLst/>
          </a:prstGeom>
          <a:solidFill>
            <a:srgbClr val="7B5BAF"/>
          </a:solidFill>
          <a:ln>
            <a:solidFill>
              <a:srgbClr val="7B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Simul_Z5 / Other.csv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41280" y="3346704"/>
            <a:ext cx="411480" cy="1645919"/>
          </a:xfrm>
          <a:prstGeom prst="line">
            <a:avLst/>
          </a:prstGeom>
          <a:ln w="3175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5852160"/>
            <a:ext cx="107899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5C6775"/>
                </a:solidFill>
                <a:latin typeface="Aptos"/>
              </a:rPr>
              <a:t>공정별 Simulation_Hub.py의 PRE_THK_FORMULA가 PRE_OPER, PRE_OPER2~4의 사용 방식(raw / 회귀 / 가중치)을 결정합니다.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